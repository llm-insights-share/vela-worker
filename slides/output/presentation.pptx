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304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0"/>
            <a:ext cx="2560320" cy="5143500"/>
          </a:xfrm>
          <a:prstGeom prst="rect">
            <a:avLst/>
          </a:prstGeom>
          <a:solidFill>
            <a:srgbClr val="0077B6"/>
          </a:solidFill>
          <a:ln/>
        </p:spPr>
      </p:sp>
      <p:sp>
        <p:nvSpPr>
          <p:cNvPr id="3" name="Shape 1"/>
          <p:cNvSpPr/>
          <p:nvPr/>
        </p:nvSpPr>
        <p:spPr>
          <a:xfrm>
            <a:off x="7680960" y="0"/>
            <a:ext cx="1463040" cy="51435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1234440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0E0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BRIEFING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2920" y="1691640"/>
            <a:ext cx="5943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Vela·Worker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数字员工架构与设计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02920" y="333756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0E0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面向 AI 应用与开发专家 · 结合 vela-worker / vela-agent 实现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4617720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v1.0  |  零侵入复用 Agent 运行时  | 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3045E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20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59436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目录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02920" y="1371600"/>
            <a:ext cx="3931920" cy="868680"/>
          </a:xfrm>
          <a:prstGeom prst="roundRect">
            <a:avLst>
              <a:gd name="adj" fmla="val 8421"/>
            </a:avLst>
          </a:prstGeom>
          <a:solidFill>
            <a:srgbClr val="CAF0F8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55448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77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417320" y="153619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定位与边界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417320" y="18470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数字员工 vs Agent 运行时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02920" y="2377440"/>
            <a:ext cx="3931920" cy="868680"/>
          </a:xfrm>
          <a:prstGeom prst="roundRect">
            <a:avLst>
              <a:gd name="adj" fmla="val 8421"/>
            </a:avLst>
          </a:prstGeom>
          <a:solidFill>
            <a:srgbClr val="CAF0F8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256032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77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417320" y="254203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总体架构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417320" y="28529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接入层 · worker 核心 · agent 运行时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02920" y="3383280"/>
            <a:ext cx="3931920" cy="868680"/>
          </a:xfrm>
          <a:prstGeom prst="roundRect">
            <a:avLst>
              <a:gd name="adj" fmla="val 8421"/>
            </a:avLst>
          </a:prstGeom>
          <a:solidFill>
            <a:srgbClr val="CAF0F8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356616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77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417320" y="354787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领域模型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417320" y="385876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身份 / 职责 / 入口 COMPOSITE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709160" y="1371600"/>
            <a:ext cx="3931920" cy="868680"/>
          </a:xfrm>
          <a:prstGeom prst="roundRect">
            <a:avLst>
              <a:gd name="adj" fmla="val 8421"/>
            </a:avLst>
          </a:prstGeom>
          <a:solidFill>
            <a:srgbClr val="CAF0F8"/>
          </a:solidFill>
          <a:ln/>
        </p:spPr>
      </p:sp>
      <p:sp>
        <p:nvSpPr>
          <p:cNvPr id="18" name="Text 16"/>
          <p:cNvSpPr/>
          <p:nvPr/>
        </p:nvSpPr>
        <p:spPr>
          <a:xfrm>
            <a:off x="4892040" y="155448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77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5623560" y="153619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规格与开放接口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623560" y="18470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Worker Spec · Task · Webhook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709160" y="2377440"/>
            <a:ext cx="3931920" cy="868680"/>
          </a:xfrm>
          <a:prstGeom prst="roundRect">
            <a:avLst>
              <a:gd name="adj" fmla="val 8421"/>
            </a:avLst>
          </a:prstGeom>
          <a:solidFill>
            <a:srgbClr val="CAF0F8"/>
          </a:solidFill>
          <a:ln/>
        </p:spPr>
      </p:sp>
      <p:sp>
        <p:nvSpPr>
          <p:cNvPr id="22" name="Text 20"/>
          <p:cNvSpPr/>
          <p:nvPr/>
        </p:nvSpPr>
        <p:spPr>
          <a:xfrm>
            <a:off x="4892040" y="256032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77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5623560" y="254203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IM 与 HITL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623560" y="28529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会话路由 · 审批桥接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709160" y="3383280"/>
            <a:ext cx="3931920" cy="868680"/>
          </a:xfrm>
          <a:prstGeom prst="roundRect">
            <a:avLst>
              <a:gd name="adj" fmla="val 8421"/>
            </a:avLst>
          </a:prstGeom>
          <a:solidFill>
            <a:srgbClr val="CAF0F8"/>
          </a:solidFill>
          <a:ln/>
        </p:spPr>
      </p:sp>
      <p:sp>
        <p:nvSpPr>
          <p:cNvPr id="26" name="Text 24"/>
          <p:cNvSpPr/>
          <p:nvPr/>
        </p:nvSpPr>
        <p:spPr>
          <a:xfrm>
            <a:off x="4892040" y="356616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77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5623560" y="354787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集成与演进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623560" y="385876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适配层 · 治理 · 路线图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30" name="Text 28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77B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55448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90E0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548640" y="21945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定位与边界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48640" y="301752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F0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 是能力；数字员工是有组织身份、职责边界与问责口径的服务主体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6" name="Text 4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3045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系统定位：从「可调用能力」到「可派活员工」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3931920" cy="3291840"/>
          </a:xfrm>
          <a:prstGeom prst="roundRect">
            <a:avLst>
              <a:gd name="adj" fmla="val 2778"/>
            </a:avLst>
          </a:prstGeom>
          <a:solidFill>
            <a:srgbClr val="CAF0F8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1887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77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vela-agent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85800" y="155448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怎么干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685800" y="2148840"/>
            <a:ext cx="34747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SINGLE / COMPOSITE / WORKFLOW 执行体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Skills · Tools · KB · Memory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Coordinator 分派与汇总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Sessions · HITL Approvals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推理、工具调用、预算熔断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54880" y="1005840"/>
            <a:ext cx="3931920" cy="3291840"/>
          </a:xfrm>
          <a:prstGeom prst="roundRect">
            <a:avLst>
              <a:gd name="adj" fmla="val 2778"/>
            </a:avLst>
          </a:prstGeom>
          <a:solidFill>
            <a:srgbClr val="03045E"/>
          </a:solidFill>
          <a:ln/>
        </p:spPr>
      </p:sp>
      <p:sp>
        <p:nvSpPr>
          <p:cNvPr id="9" name="Text 7"/>
          <p:cNvSpPr/>
          <p:nvPr/>
        </p:nvSpPr>
        <p:spPr>
          <a:xfrm>
            <a:off x="4983480" y="11887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0E0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vela-worker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983480" y="155448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谁来干 / 干什么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4983480" y="2148840"/>
            <a:ext cx="34747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CAF0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组织身份（工号 D- / 部门 / 在岗）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CAF0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职责库 · 角色 · 入口 COMPOSITE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CAF0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Task 状态机 · Open API · Webhook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CAF0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IM 会话 · HITL 桥接 · 推送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CAF0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零侵入：仅 REST 适配 vela-agent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3" name="Text 11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77B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55448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90E0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548640" y="21945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总体架构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48640" y="301752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F0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接入层 → 数字员工服务 → Agent 运行时（:8100 / :8000）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6" name="Text 4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3045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分层架构与核心模块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8229600" cy="777240"/>
          </a:xfrm>
          <a:prstGeom prst="roundRect">
            <a:avLst>
              <a:gd name="adj" fmla="val 9412"/>
            </a:avLst>
          </a:prstGeom>
          <a:solidFill>
            <a:srgbClr val="CAF0F8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978408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接入层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128016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IM 前台 · 管理后台 · 企业应用（OA/BPM）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783080"/>
            <a:ext cx="8229600" cy="777240"/>
          </a:xfrm>
          <a:prstGeom prst="roundRect">
            <a:avLst>
              <a:gd name="adj" fmla="val 9412"/>
            </a:avLst>
          </a:prstGeom>
          <a:solidFill>
            <a:srgbClr val="0077B6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892808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vela-worker :8100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219456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0E0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Directory · Task Center · IM · HITL Bridge · Open API · Push · Adapter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697480"/>
            <a:ext cx="8229600" cy="777240"/>
          </a:xfrm>
          <a:prstGeom prst="roundRect">
            <a:avLst>
              <a:gd name="adj" fmla="val 9412"/>
            </a:avLst>
          </a:prstGeom>
          <a:solidFill>
            <a:srgbClr val="03045E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807208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vela-agent :8000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0080" y="310896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0E0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Agents · Composition · Sessions · Skills/Tools/KB · HITL · Memory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37033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原则：worker 不修改 agent 源码；经 VelaAgentClient 调用 /api/v1/*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4069080"/>
            <a:ext cx="1965960" cy="457200"/>
          </a:xfrm>
          <a:prstGeom prst="roundRect">
            <a:avLst>
              <a:gd name="adj" fmla="val 12000"/>
            </a:avLst>
          </a:prstGeom>
          <a:solidFill>
            <a:srgbClr val="CAF0F8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406908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Directory  角色/职责/入职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560320" y="4069080"/>
            <a:ext cx="1965960" cy="457200"/>
          </a:xfrm>
          <a:prstGeom prst="roundRect">
            <a:avLst>
              <a:gd name="adj" fmla="val 12000"/>
            </a:avLst>
          </a:prstGeom>
          <a:solidFill>
            <a:srgbClr val="CAF0F8"/>
          </a:solidFill>
          <a:ln/>
        </p:spPr>
      </p:sp>
      <p:sp>
        <p:nvSpPr>
          <p:cNvPr id="17" name="Text 15"/>
          <p:cNvSpPr/>
          <p:nvPr/>
        </p:nvSpPr>
        <p:spPr>
          <a:xfrm>
            <a:off x="2560320" y="406908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Task  状态机/轮询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663440" y="4069080"/>
            <a:ext cx="1965960" cy="457200"/>
          </a:xfrm>
          <a:prstGeom prst="roundRect">
            <a:avLst>
              <a:gd name="adj" fmla="val 12000"/>
            </a:avLst>
          </a:prstGeom>
          <a:solidFill>
            <a:srgbClr val="CAF0F8"/>
          </a:solidFill>
          <a:ln/>
        </p:spPr>
      </p:sp>
      <p:sp>
        <p:nvSpPr>
          <p:cNvPr id="19" name="Text 17"/>
          <p:cNvSpPr/>
          <p:nvPr/>
        </p:nvSpPr>
        <p:spPr>
          <a:xfrm>
            <a:off x="4663440" y="406908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IM  会话/@路由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766560" y="4069080"/>
            <a:ext cx="1965960" cy="457200"/>
          </a:xfrm>
          <a:prstGeom prst="roundRect">
            <a:avLst>
              <a:gd name="adj" fmla="val 12000"/>
            </a:avLst>
          </a:prstGeom>
          <a:solidFill>
            <a:srgbClr val="CAF0F8"/>
          </a:solidFill>
          <a:ln/>
        </p:spPr>
      </p:sp>
      <p:sp>
        <p:nvSpPr>
          <p:cNvPr id="21" name="Text 19"/>
          <p:cNvSpPr/>
          <p:nvPr/>
        </p:nvSpPr>
        <p:spPr>
          <a:xfrm>
            <a:off x="6766560" y="406908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HITL  审批卡片桥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23" name="Text 21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77B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55448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90E0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548640" y="21945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领域模型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48640" y="301752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F0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身份 · 职责 · 入口 COMPOSITE · 接待与子 Agent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6" name="Text 4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3045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数字员工运行时模型：入口 COMPOSITE + 子 Agent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286000" y="868680"/>
            <a:ext cx="4572000" cy="777240"/>
          </a:xfrm>
          <a:prstGeom prst="roundRect">
            <a:avLst>
              <a:gd name="adj" fmla="val 9412"/>
            </a:avLst>
          </a:prstGeom>
          <a:solidFill>
            <a:srgbClr val="03045E"/>
          </a:solidFill>
          <a:ln/>
        </p:spPr>
      </p:sp>
      <p:sp>
        <p:nvSpPr>
          <p:cNvPr id="5" name="Text 3"/>
          <p:cNvSpPr/>
          <p:nvPr/>
        </p:nvSpPr>
        <p:spPr>
          <a:xfrm>
            <a:off x="2286000" y="86868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入口 Agent  COMPOSITE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entry_agent_id · memory · Coordinator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26280" y="1645920"/>
            <a:ext cx="91440" cy="32004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7" name="Shape 5"/>
          <p:cNvSpPr/>
          <p:nvPr/>
        </p:nvSpPr>
        <p:spPr>
          <a:xfrm>
            <a:off x="411480" y="2057400"/>
            <a:ext cx="2651760" cy="1417320"/>
          </a:xfrm>
          <a:prstGeom prst="roundRect">
            <a:avLst>
              <a:gd name="adj" fmla="val 5161"/>
            </a:avLst>
          </a:prstGeom>
          <a:solidFill>
            <a:srgbClr val="CAF0F8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19456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基础接待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SINGLE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283464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寒暄/介绍/拒答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reception_agent_id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46120" y="2057400"/>
            <a:ext cx="2651760" cy="1417320"/>
          </a:xfrm>
          <a:prstGeom prst="roundRect">
            <a:avLst>
              <a:gd name="adj" fmla="val 5161"/>
            </a:avLst>
          </a:prstGeom>
          <a:solidFill>
            <a:srgbClr val="CAF0F8"/>
          </a:solidFill>
          <a:ln/>
        </p:spPr>
      </p:sp>
      <p:sp>
        <p:nvSpPr>
          <p:cNvPr id="11" name="Text 9"/>
          <p:cNvSpPr/>
          <p:nvPr/>
        </p:nvSpPr>
        <p:spPr>
          <a:xfrm>
            <a:off x="3383280" y="219456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职责 Agent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SINGLE × 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383280" y="283464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模板克隆实例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WorkerDutyAgent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080760" y="2057400"/>
            <a:ext cx="2651760" cy="1417320"/>
          </a:xfrm>
          <a:prstGeom prst="roundRect">
            <a:avLst>
              <a:gd name="adj" fmla="val 5161"/>
            </a:avLst>
          </a:prstGeom>
          <a:solidFill>
            <a:srgbClr val="CAF0F8"/>
          </a:solidFill>
          <a:ln/>
        </p:spPr>
      </p:sp>
      <p:sp>
        <p:nvSpPr>
          <p:cNvPr id="14" name="Text 12"/>
          <p:cNvSpPr/>
          <p:nvPr/>
        </p:nvSpPr>
        <p:spPr>
          <a:xfrm>
            <a:off x="6217920" y="219456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专业能力绑定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217920" y="283464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Skills / Tools / KB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治理与 HITL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703320"/>
            <a:ext cx="8229600" cy="777240"/>
          </a:xfrm>
          <a:prstGeom prst="roundRect">
            <a:avLst>
              <a:gd name="adj" fmla="val 9412"/>
            </a:avLst>
          </a:prstGeom>
          <a:solidFill>
            <a:srgbClr val="F5F7FA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79476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请求统一进入口：</a:t>
            </a:r>
            <a:pPr indent="0" marL="0">
              <a:buNone/>
            </a:pPr>
            <a:r>
              <a:rPr lang="en-US" sz="12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IM / Task / OpenAPI / Push → entry COMPOSITE → Coordinator 按关键词与角色描述分派。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组织侧：</a:t>
            </a:r>
            <a:pPr indent="0" marL="0">
              <a:buNone/>
            </a:pPr>
            <a:r>
              <a:rPr lang="en-US" sz="12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Role.duty_ids → 入职克隆；追加/移除职责原地同步 composition（避免同名 409）。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9" name="Text 17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77B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55448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90E0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548640" y="21945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规格与开放接口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48640" y="301752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F0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Worker Spec 契约 · 任务状态机 · Webhook 可靠性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6" name="Text 4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3045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Worker Spec 与任务契约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1965960" cy="1051560"/>
          </a:xfrm>
          <a:prstGeom prst="roundRect">
            <a:avLst>
              <a:gd name="adj" fmla="val 6957"/>
            </a:avLst>
          </a:prstGeom>
          <a:solidFill>
            <a:srgbClr val="CAF0F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96012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77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identity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132588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工号 D- · 部门 · ON_DUTY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560320" y="822960"/>
            <a:ext cx="1965960" cy="1051560"/>
          </a:xfrm>
          <a:prstGeom prst="roundRect">
            <a:avLst>
              <a:gd name="adj" fmla="val 6957"/>
            </a:avLst>
          </a:prstGeom>
          <a:solidFill>
            <a:srgbClr val="F5F7FA"/>
          </a:solidFill>
          <a:ln/>
        </p:spPr>
      </p:sp>
      <p:sp>
        <p:nvSpPr>
          <p:cNvPr id="8" name="Text 6"/>
          <p:cNvSpPr/>
          <p:nvPr/>
        </p:nvSpPr>
        <p:spPr>
          <a:xfrm>
            <a:off x="2651760" y="96012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77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entry_agent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651760" y="132588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COMPOSITE + reception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663440" y="822960"/>
            <a:ext cx="1965960" cy="1051560"/>
          </a:xfrm>
          <a:prstGeom prst="roundRect">
            <a:avLst>
              <a:gd name="adj" fmla="val 6957"/>
            </a:avLst>
          </a:prstGeom>
          <a:solidFill>
            <a:srgbClr val="CAF0F8"/>
          </a:solidFill>
          <a:ln/>
        </p:spPr>
      </p:sp>
      <p:sp>
        <p:nvSpPr>
          <p:cNvPr id="11" name="Text 9"/>
          <p:cNvSpPr/>
          <p:nvPr/>
        </p:nvSpPr>
        <p:spPr>
          <a:xfrm>
            <a:off x="4754880" y="96012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77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capabilities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754880" y="132588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duties[] 子 Agent · task_types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766560" y="822960"/>
            <a:ext cx="1965960" cy="1051560"/>
          </a:xfrm>
          <a:prstGeom prst="roundRect">
            <a:avLst>
              <a:gd name="adj" fmla="val 6957"/>
            </a:avLst>
          </a:prstGeom>
          <a:solidFill>
            <a:srgbClr val="F5F7FA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0" y="96012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77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governance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858000" y="132588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L1–L4 · HITL · token/并发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2057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Open API（异步受理）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57200" y="2423160"/>
            <a:ext cx="4114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77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/open/workers/{id}/tasks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077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X-API-Key · task_types 白名单 · 201 {task_id}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077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Webhook: ACCEPTED / NEED_HUMAN / COMPLETED / FAILED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077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HMAC 签名 · 指数退避重试 · delivery_id 幂等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846320" y="2331720"/>
            <a:ext cx="3840480" cy="1965960"/>
          </a:xfrm>
          <a:prstGeom prst="roundRect">
            <a:avLst>
              <a:gd name="adj" fmla="val 4651"/>
            </a:avLst>
          </a:prstGeom>
          <a:solidFill>
            <a:srgbClr val="03045E"/>
          </a:solidFill>
          <a:ln/>
        </p:spPr>
      </p:sp>
      <p:sp>
        <p:nvSpPr>
          <p:cNvPr id="19" name="Text 17"/>
          <p:cNvSpPr/>
          <p:nvPr/>
        </p:nvSpPr>
        <p:spPr>
          <a:xfrm>
            <a:off x="5029200" y="24688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0E0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Task 状态机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029200" y="2880360"/>
            <a:ext cx="34747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RECEIVED → RUNNING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NEED_HUMAN ⇄ RUNNING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COMPLETED | FAILED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QUEUED / CANCELED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22" name="Text 20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077B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55448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90E0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548640" y="21945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IM 与 HITL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48640" y="301752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F0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会话入口 · 接待与拒答 · 审批卡片桥接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6" name="Text 4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3045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IM：统一进入口 COMPOSITE，不在 worker 侧拆职责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1188720" y="868680"/>
            <a:ext cx="411480" cy="411480"/>
          </a:xfrm>
          <a:prstGeom prst="ellipse">
            <a:avLst/>
          </a:prstGeom>
          <a:solidFill>
            <a:srgbClr val="0077B6"/>
          </a:solidFill>
          <a:ln/>
        </p:spPr>
      </p:sp>
      <p:sp>
        <p:nvSpPr>
          <p:cNvPr id="5" name="Text 3"/>
          <p:cNvSpPr/>
          <p:nvPr/>
        </p:nvSpPr>
        <p:spPr>
          <a:xfrm>
            <a:off x="1188720" y="8686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691640" y="1024128"/>
            <a:ext cx="1554480" cy="73152"/>
          </a:xfrm>
          <a:prstGeom prst="rect">
            <a:avLst/>
          </a:prstGeom>
          <a:solidFill>
            <a:srgbClr val="90E0EF"/>
          </a:solidFill>
          <a:ln/>
        </p:spPr>
      </p:sp>
      <p:sp>
        <p:nvSpPr>
          <p:cNvPr id="7" name="Text 5"/>
          <p:cNvSpPr/>
          <p:nvPr/>
        </p:nvSpPr>
        <p:spPr>
          <a:xfrm>
            <a:off x="411480" y="1417320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 @员工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11480" y="173736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IM 会话绑定 worker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383280" y="868680"/>
            <a:ext cx="411480" cy="411480"/>
          </a:xfrm>
          <a:prstGeom prst="ellipse">
            <a:avLst/>
          </a:prstGeom>
          <a:solidFill>
            <a:srgbClr val="0077B6"/>
          </a:solidFill>
          <a:ln/>
        </p:spPr>
      </p:sp>
      <p:sp>
        <p:nvSpPr>
          <p:cNvPr id="10" name="Text 8"/>
          <p:cNvSpPr/>
          <p:nvPr/>
        </p:nvSpPr>
        <p:spPr>
          <a:xfrm>
            <a:off x="3383280" y="8686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886200" y="1024128"/>
            <a:ext cx="1554480" cy="73152"/>
          </a:xfrm>
          <a:prstGeom prst="rect">
            <a:avLst/>
          </a:prstGeom>
          <a:solidFill>
            <a:srgbClr val="90E0EF"/>
          </a:solidFill>
          <a:ln/>
        </p:spPr>
      </p:sp>
      <p:sp>
        <p:nvSpPr>
          <p:cNvPr id="12" name="Text 10"/>
          <p:cNvSpPr/>
          <p:nvPr/>
        </p:nvSpPr>
        <p:spPr>
          <a:xfrm>
            <a:off x="2606040" y="1417320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注入上下文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606040" y="173736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【近期对话】+【当前用户消息】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577840" y="868680"/>
            <a:ext cx="411480" cy="411480"/>
          </a:xfrm>
          <a:prstGeom prst="ellipse">
            <a:avLst/>
          </a:prstGeom>
          <a:solidFill>
            <a:srgbClr val="0077B6"/>
          </a:solidFill>
          <a:ln/>
        </p:spPr>
      </p:sp>
      <p:sp>
        <p:nvSpPr>
          <p:cNvPr id="15" name="Text 13"/>
          <p:cNvSpPr/>
          <p:nvPr/>
        </p:nvSpPr>
        <p:spPr>
          <a:xfrm>
            <a:off x="5577840" y="8686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080760" y="1024128"/>
            <a:ext cx="1554480" cy="73152"/>
          </a:xfrm>
          <a:prstGeom prst="rect">
            <a:avLst/>
          </a:prstGeom>
          <a:solidFill>
            <a:srgbClr val="90E0EF"/>
          </a:solidFill>
          <a:ln/>
        </p:spPr>
      </p:sp>
      <p:sp>
        <p:nvSpPr>
          <p:cNvPr id="17" name="Text 15"/>
          <p:cNvSpPr/>
          <p:nvPr/>
        </p:nvSpPr>
        <p:spPr>
          <a:xfrm>
            <a:off x="4800600" y="1417320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entry COMPOSITE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800600" y="173736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Coordinator 分派子 Agent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772400" y="868680"/>
            <a:ext cx="411480" cy="411480"/>
          </a:xfrm>
          <a:prstGeom prst="ellipse">
            <a:avLst/>
          </a:prstGeom>
          <a:solidFill>
            <a:srgbClr val="0077B6"/>
          </a:solidFill>
          <a:ln/>
        </p:spPr>
      </p:sp>
      <p:sp>
        <p:nvSpPr>
          <p:cNvPr id="20" name="Text 18"/>
          <p:cNvSpPr/>
          <p:nvPr/>
        </p:nvSpPr>
        <p:spPr>
          <a:xfrm>
            <a:off x="7772400" y="8686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995160" y="1417320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接待 / 职责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995160" y="173736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寒暄介绍 · 业务执行 · OOS 拒答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2331720"/>
            <a:ext cx="4023360" cy="2011680"/>
          </a:xfrm>
          <a:prstGeom prst="roundRect">
            <a:avLst>
              <a:gd name="adj" fmla="val 4545"/>
            </a:avLst>
          </a:prstGeom>
          <a:solidFill>
            <a:srgbClr val="CAF0F8"/>
          </a:solidFill>
          <a:ln/>
        </p:spPr>
      </p:sp>
      <p:sp>
        <p:nvSpPr>
          <p:cNvPr id="24" name="Text 22"/>
          <p:cNvSpPr/>
          <p:nvPr/>
        </p:nvSpPr>
        <p:spPr>
          <a:xfrm>
            <a:off x="685800" y="25146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基础接待 SINGLE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85800" y="2926080"/>
            <a:ext cx="3657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挂载在 COMPOSITE 首位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自我介绍 · 能力边界说明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职责外礼貌拒答（OOS）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不抢业务职责关键词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663440" y="2331720"/>
            <a:ext cx="4023360" cy="2011680"/>
          </a:xfrm>
          <a:prstGeom prst="roundRect">
            <a:avLst>
              <a:gd name="adj" fmla="val 4545"/>
            </a:avLst>
          </a:prstGeom>
          <a:solidFill>
            <a:srgbClr val="03045E"/>
          </a:solidFill>
          <a:ln/>
        </p:spPr>
      </p:sp>
      <p:sp>
        <p:nvSpPr>
          <p:cNvPr id="27" name="Text 25"/>
          <p:cNvSpPr/>
          <p:nvPr/>
        </p:nvSpPr>
        <p:spPr>
          <a:xfrm>
            <a:off x="4892040" y="25146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为何需要接待子 Agent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4892040" y="2926080"/>
            <a:ext cx="3657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F0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COMPOSITE 父级 system_prompt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AF0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不参与 Coordinator 推理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AF0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接待能力必须是可调度子 Agent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AF0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现有员工可用「修复编排」补齐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30" name="Text 28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3045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HITL：agent 审批能力 × worker 组织触达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2743200" cy="3200400"/>
          </a:xfrm>
          <a:prstGeom prst="roundRect">
            <a:avLst>
              <a:gd name="adj" fmla="val 3333"/>
            </a:avLst>
          </a:prstGeom>
          <a:solidFill>
            <a:srgbClr val="CAF0F8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0972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304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vela-agent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17373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 Approval 实体与策略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23317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 NEED_HUMAN 挂起会话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29260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 Resume 后继续执行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337560" y="868680"/>
            <a:ext cx="2743200" cy="3200400"/>
          </a:xfrm>
          <a:prstGeom prst="roundRect">
            <a:avLst>
              <a:gd name="adj" fmla="val 3333"/>
            </a:avLst>
          </a:prstGeom>
          <a:solidFill>
            <a:srgbClr val="03045E"/>
          </a:solidFill>
          <a:ln/>
        </p:spPr>
      </p:sp>
      <p:sp>
        <p:nvSpPr>
          <p:cNvPr id="10" name="Text 8"/>
          <p:cNvSpPr/>
          <p:nvPr/>
        </p:nvSpPr>
        <p:spPr>
          <a:xfrm>
            <a:off x="3520440" y="10972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vela-worker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520440" y="17373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0E0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 IM 审批卡片渲染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520440" y="23317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0E0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 人审回调 → resume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520440" y="29260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0E0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 推送 NEED_HUMAN 事件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217920" y="868680"/>
            <a:ext cx="2743200" cy="3200400"/>
          </a:xfrm>
          <a:prstGeom prst="roundRect">
            <a:avLst>
              <a:gd name="adj" fmla="val 3333"/>
            </a:avLst>
          </a:prstGeom>
          <a:solidFill>
            <a:srgbClr val="CAF0F8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0" y="10972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304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企业触点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00800" y="17373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 IM / 管理后台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400800" y="23317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 Webhook 通知业务系统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400800" y="29260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 审计与超时策略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20" name="Text 18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077B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55448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90E0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548640" y="21945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集成与演进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48640" y="301752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F0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零侵入适配 · 治理边界 · 路线图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6" name="Text 4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3045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零侵入适配与演进路径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4023360" cy="3566160"/>
          </a:xfrm>
          <a:prstGeom prst="roundRect">
            <a:avLst>
              <a:gd name="adj" fmla="val 2564"/>
            </a:avLst>
          </a:prstGeom>
          <a:solidFill>
            <a:srgbClr val="CAF0F8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0058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Adapter 原则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85800" y="1463040"/>
            <a:ext cx="36576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不修改 vela-agent 源码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VelaAgentClient → /api/v1/*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Composition 原地更新避 409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worker 持组织态与任务态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 持执行态与审批态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治理：L1–L4 · token · 并发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709160" y="822960"/>
            <a:ext cx="3977640" cy="1051560"/>
          </a:xfrm>
          <a:prstGeom prst="roundRect">
            <a:avLst>
              <a:gd name="adj" fmla="val 6957"/>
            </a:avLst>
          </a:prstGeom>
          <a:solidFill>
            <a:srgbClr val="03045E"/>
          </a:solidFill>
          <a:ln/>
        </p:spPr>
      </p:sp>
      <p:sp>
        <p:nvSpPr>
          <p:cNvPr id="8" name="Text 6"/>
          <p:cNvSpPr/>
          <p:nvPr/>
        </p:nvSpPr>
        <p:spPr>
          <a:xfrm>
            <a:off x="4892040" y="9875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0E0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Now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892040" y="1298448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入口 COMPOSITE · 接待 · Open API · IM/HITL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709160" y="2011680"/>
            <a:ext cx="3977640" cy="1051560"/>
          </a:xfrm>
          <a:prstGeom prst="roundRect">
            <a:avLst>
              <a:gd name="adj" fmla="val 6957"/>
            </a:avLst>
          </a:prstGeom>
          <a:solidFill>
            <a:srgbClr val="F5F7FA"/>
          </a:solidFill>
          <a:ln/>
        </p:spPr>
      </p:sp>
      <p:sp>
        <p:nvSpPr>
          <p:cNvPr id="11" name="Text 9"/>
          <p:cNvSpPr/>
          <p:nvPr/>
        </p:nvSpPr>
        <p:spPr>
          <a:xfrm>
            <a:off x="4892040" y="21762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892040" y="2487168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 IM 通道 · 推送规则深化 · Spec 版本化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709160" y="3200400"/>
            <a:ext cx="3977640" cy="1051560"/>
          </a:xfrm>
          <a:prstGeom prst="roundRect">
            <a:avLst>
              <a:gd name="adj" fmla="val 6957"/>
            </a:avLst>
          </a:prstGeom>
          <a:solidFill>
            <a:srgbClr val="F5F7FA"/>
          </a:solidFill>
          <a:ln/>
        </p:spPr>
      </p:sp>
      <p:sp>
        <p:nvSpPr>
          <p:cNvPr id="14" name="Text 12"/>
          <p:cNvSpPr/>
          <p:nvPr/>
        </p:nvSpPr>
        <p:spPr>
          <a:xfrm>
            <a:off x="4892040" y="336499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Later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892040" y="3675888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跨员工协作 · 组织级编排 · 观测与成本闭环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7" name="Text 15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3045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要点回顾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8229600" cy="777240"/>
          </a:xfrm>
          <a:prstGeom prst="roundRect">
            <a:avLst>
              <a:gd name="adj" fmla="val 9412"/>
            </a:avLst>
          </a:prstGeom>
          <a:solidFill>
            <a:srgbClr val="CAF0F8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05156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77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371600" y="978408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分工清晰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371600" y="1280160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 负责怎么干；worker 负责谁来干、干什么、如何派活与问责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737360"/>
            <a:ext cx="8229600" cy="777240"/>
          </a:xfrm>
          <a:prstGeom prst="roundRect">
            <a:avLst>
              <a:gd name="adj" fmla="val 9412"/>
            </a:avLst>
          </a:prstGeom>
          <a:solidFill>
            <a:srgbClr val="F5F7FA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92024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77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371600" y="1847088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一人一入口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371600" y="2148840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每名数字员工一个 COMPOSITE 入口 + 接待 SINGLE + 职责子 Agent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606040"/>
            <a:ext cx="8229600" cy="777240"/>
          </a:xfrm>
          <a:prstGeom prst="roundRect">
            <a:avLst>
              <a:gd name="adj" fmla="val 9412"/>
            </a:avLst>
          </a:prstGeom>
          <a:solidFill>
            <a:srgbClr val="CAF0F8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278892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77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371600" y="2715768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契约外化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371600" y="3017520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Worker Spec · Task 状态机 · Open API / Webhook 对接企业系统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474720"/>
            <a:ext cx="8229600" cy="777240"/>
          </a:xfrm>
          <a:prstGeom prst="roundRect">
            <a:avLst>
              <a:gd name="adj" fmla="val 9412"/>
            </a:avLst>
          </a:prstGeom>
          <a:solidFill>
            <a:srgbClr val="F5F7FA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65760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77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371600" y="3584448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零侵入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371600" y="3886200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仅通过 REST 适配复用 vela-agent，组织态与执行态边界分明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21" name="Text 19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Vela·Worker 数字员工架构与设计</dc:title>
  <dc:subject>PptxGenJS Presentation</dc:subject>
  <dc:creator>Vela Worker</dc:creator>
  <cp:lastModifiedBy>Vela Worker</cp:lastModifiedBy>
  <cp:revision>1</cp:revision>
  <dcterms:created xsi:type="dcterms:W3CDTF">2026-08-10T05:02:07Z</dcterms:created>
  <dcterms:modified xsi:type="dcterms:W3CDTF">2026-08-10T05:02:07Z</dcterms:modified>
</cp:coreProperties>
</file>